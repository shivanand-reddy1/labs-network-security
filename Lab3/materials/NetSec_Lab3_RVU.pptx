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2" roundtripDataSignature="AMtx7mgIMqQ0qtckQyvqLS3CgHX4mqcN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52" name="Google Shape;15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1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Jul 2012</a:t>
            </a:r>
            <a:endParaRPr/>
          </a:p>
        </p:txBody>
      </p:sp>
      <p:sp>
        <p:nvSpPr>
          <p:cNvPr id="154" name="Google Shape;154;p1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on RTOS - Mouli Sankaran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Jul 2012</a:t>
            </a:r>
            <a:endParaRPr/>
          </a:p>
        </p:txBody>
      </p:sp>
      <p:sp>
        <p:nvSpPr>
          <p:cNvPr id="162" name="Google Shape;162;p2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on RTOS - Mouli Sankaran</a:t>
            </a:r>
            <a:endParaRPr/>
          </a:p>
        </p:txBody>
      </p:sp>
      <p:sp>
        <p:nvSpPr>
          <p:cNvPr id="163" name="Google Shape;163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/>
          <p:nvPr/>
        </p:nvSpPr>
        <p:spPr>
          <a:xfrm>
            <a:off x="75016" y="80730"/>
            <a:ext cx="8969698" cy="4060050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17"/>
          <p:cNvSpPr txBox="1"/>
          <p:nvPr>
            <p:ph type="title"/>
          </p:nvPr>
        </p:nvSpPr>
        <p:spPr>
          <a:xfrm>
            <a:off x="468344" y="4928616"/>
            <a:ext cx="8183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3600"/>
              <a:buFont typeface="Times New Roman"/>
              <a:buNone/>
              <a:defRPr b="1" sz="3600" cap="none">
                <a:solidFill>
                  <a:srgbClr val="CC66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68344" y="5624484"/>
            <a:ext cx="8183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18850" spcFirstLastPara="1" rIns="91425" wrap="square" tIns="0">
            <a:normAutofit/>
          </a:bodyPr>
          <a:lstStyle>
            <a:lvl1pPr indent="-228600" lvl="0" marL="457200" marR="36576" algn="l">
              <a:spcBef>
                <a:spcPts val="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B75C00"/>
                </a:solidFill>
              </a:defRPr>
            </a:lvl1pPr>
            <a:lvl2pPr indent="-228600" lvl="1" marL="9144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30"/>
              </a:spcBef>
              <a:spcAft>
                <a:spcPts val="0"/>
              </a:spcAft>
              <a:buSzPts val="156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04448" y="64544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etwork Security Images - Free Download on Freepik" id="21" name="Google Shape;21;p17"/>
          <p:cNvPicPr preferRelativeResize="0"/>
          <p:nvPr/>
        </p:nvPicPr>
        <p:blipFill rotWithShape="1">
          <a:blip r:embed="rId2">
            <a:alphaModFix/>
          </a:blip>
          <a:srcRect b="17809" l="0" r="0" t="15049"/>
          <a:stretch/>
        </p:blipFill>
        <p:spPr>
          <a:xfrm>
            <a:off x="166936" y="136688"/>
            <a:ext cx="8810128" cy="394038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7"/>
          <p:cNvSpPr txBox="1"/>
          <p:nvPr/>
        </p:nvSpPr>
        <p:spPr>
          <a:xfrm>
            <a:off x="2493648" y="6465760"/>
            <a:ext cx="4238592" cy="3966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Security (CS3403)– RVU – Mouli Sankaran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3600"/>
              <a:buFont typeface="Times New Roma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20040" lvl="0" marL="45720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56616" lvl="3" marL="1828800" algn="l">
              <a:spcBef>
                <a:spcPts val="230"/>
              </a:spcBef>
              <a:spcAft>
                <a:spcPts val="0"/>
              </a:spcAft>
              <a:buSzPts val="2016"/>
              <a:buChar char="◦"/>
              <a:defRPr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6" name="Google Shape;26;p18"/>
          <p:cNvSpPr txBox="1"/>
          <p:nvPr/>
        </p:nvSpPr>
        <p:spPr>
          <a:xfrm>
            <a:off x="8596448" y="64562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/>
          <p:nvPr/>
        </p:nvSpPr>
        <p:spPr>
          <a:xfrm>
            <a:off x="107504" y="116632"/>
            <a:ext cx="8928992" cy="6480720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19"/>
          <p:cNvSpPr/>
          <p:nvPr/>
        </p:nvSpPr>
        <p:spPr>
          <a:xfrm>
            <a:off x="251520" y="188640"/>
            <a:ext cx="8640960" cy="648072"/>
          </a:xfrm>
          <a:prstGeom prst="roundRect">
            <a:avLst>
              <a:gd fmla="val 4578" name="adj"/>
            </a:avLst>
          </a:prstGeom>
          <a:solidFill>
            <a:srgbClr val="86C4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19"/>
          <p:cNvSpPr txBox="1"/>
          <p:nvPr>
            <p:ph type="ctrTitle"/>
          </p:nvPr>
        </p:nvSpPr>
        <p:spPr>
          <a:xfrm>
            <a:off x="722376" y="1820206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4500"/>
              <a:buFont typeface="Times New Roman"/>
              <a:buNone/>
              <a:defRPr b="1" sz="4500">
                <a:solidFill>
                  <a:srgbClr val="FF8C3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subTitle"/>
          </p:nvPr>
        </p:nvSpPr>
        <p:spPr>
          <a:xfrm>
            <a:off x="722376" y="368503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8766F"/>
                </a:solidFill>
              </a:defRPr>
            </a:lvl1pPr>
            <a:lvl2pPr lvl="1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30"/>
              </a:spcBef>
              <a:spcAft>
                <a:spcPts val="0"/>
              </a:spcAft>
              <a:buSzPts val="2016"/>
              <a:buNone/>
              <a:defRPr/>
            </a:lvl4pPr>
            <a:lvl5pPr lvl="4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57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/>
        </p:nvSpPr>
        <p:spPr>
          <a:xfrm>
            <a:off x="8596448" y="64562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19"/>
          <p:cNvSpPr txBox="1"/>
          <p:nvPr/>
        </p:nvSpPr>
        <p:spPr>
          <a:xfrm>
            <a:off x="2493648" y="6465760"/>
            <a:ext cx="4238592" cy="3966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Security (CS3403)– RVU – Mouli Sankaran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body"/>
          </p:nvPr>
        </p:nvSpPr>
        <p:spPr>
          <a:xfrm>
            <a:off x="514352" y="530352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60680" lvl="0" marL="45720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indent="-368300" lvl="1" marL="9144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indent="-355600" lvl="2" marL="1371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56616" lvl="3" marL="1828800" algn="l">
              <a:spcBef>
                <a:spcPts val="230"/>
              </a:spcBef>
              <a:spcAft>
                <a:spcPts val="0"/>
              </a:spcAft>
              <a:buSzPts val="2016"/>
              <a:buChar char="◦"/>
              <a:defRPr sz="1800"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2" type="body"/>
          </p:nvPr>
        </p:nvSpPr>
        <p:spPr>
          <a:xfrm>
            <a:off x="4755360" y="530352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60680" lvl="0" marL="45720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indent="-368300" lvl="1" marL="9144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indent="-355600" lvl="2" marL="1371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56616" lvl="3" marL="1828800" algn="l">
              <a:spcBef>
                <a:spcPts val="230"/>
              </a:spcBef>
              <a:spcAft>
                <a:spcPts val="0"/>
              </a:spcAft>
              <a:buSzPts val="2016"/>
              <a:buChar char="◦"/>
              <a:defRPr sz="1800"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2" type="sldNum"/>
          </p:nvPr>
        </p:nvSpPr>
        <p:spPr>
          <a:xfrm>
            <a:off x="8596448" y="64562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 txBox="1"/>
          <p:nvPr>
            <p:ph type="title"/>
          </p:nvPr>
        </p:nvSpPr>
        <p:spPr>
          <a:xfrm>
            <a:off x="447204" y="501396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3600"/>
              <a:buFont typeface="Times New Roman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" type="body"/>
          </p:nvPr>
        </p:nvSpPr>
        <p:spPr>
          <a:xfrm>
            <a:off x="607224" y="579438"/>
            <a:ext cx="393192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46300" spcFirstLastPara="1" rIns="91425" wrap="square" tIns="91425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2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230"/>
              </a:spcBef>
              <a:spcAft>
                <a:spcPts val="0"/>
              </a:spcAft>
              <a:buSzPts val="1792"/>
              <a:buNone/>
              <a:defRPr b="1" sz="1600"/>
            </a:lvl4pPr>
            <a:lvl5pPr indent="-228600" lvl="4" marL="2286000" algn="l"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2" type="body"/>
          </p:nvPr>
        </p:nvSpPr>
        <p:spPr>
          <a:xfrm>
            <a:off x="4652169" y="579438"/>
            <a:ext cx="393192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91425" wrap="square" tIns="91425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2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230"/>
              </a:spcBef>
              <a:spcAft>
                <a:spcPts val="0"/>
              </a:spcAft>
              <a:buSzPts val="1792"/>
              <a:buNone/>
              <a:defRPr b="1" sz="1600"/>
            </a:lvl4pPr>
            <a:lvl5pPr indent="-228600" lvl="4" marL="2286000" algn="l"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3" type="body"/>
          </p:nvPr>
        </p:nvSpPr>
        <p:spPr>
          <a:xfrm>
            <a:off x="607224" y="1447800"/>
            <a:ext cx="3931920" cy="348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50520" lvl="0" marL="45720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392" lvl="3" marL="1828800" algn="l">
              <a:spcBef>
                <a:spcPts val="230"/>
              </a:spcBef>
              <a:spcAft>
                <a:spcPts val="0"/>
              </a:spcAft>
              <a:buSzPts val="1792"/>
              <a:buChar char="◦"/>
              <a:defRPr sz="1600"/>
            </a:lvl4pPr>
            <a:lvl5pPr indent="-330200" lvl="4" marL="22860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4" type="body"/>
          </p:nvPr>
        </p:nvSpPr>
        <p:spPr>
          <a:xfrm>
            <a:off x="4652169" y="1447800"/>
            <a:ext cx="3931920" cy="348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50520" lvl="0" marL="45720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392" lvl="3" marL="1828800" algn="l">
              <a:spcBef>
                <a:spcPts val="230"/>
              </a:spcBef>
              <a:spcAft>
                <a:spcPts val="0"/>
              </a:spcAft>
              <a:buSzPts val="1792"/>
              <a:buChar char="◦"/>
              <a:defRPr sz="1600"/>
            </a:lvl4pPr>
            <a:lvl5pPr indent="-330200" lvl="4" marL="22860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596448" y="64562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596448" y="64562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23"/>
          <p:cNvSpPr txBox="1"/>
          <p:nvPr/>
        </p:nvSpPr>
        <p:spPr>
          <a:xfrm>
            <a:off x="8596448" y="64562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23"/>
          <p:cNvSpPr txBox="1"/>
          <p:nvPr/>
        </p:nvSpPr>
        <p:spPr>
          <a:xfrm>
            <a:off x="2493648" y="6465760"/>
            <a:ext cx="4238592" cy="3966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Security (CS3403)– RVU – Mouli Sankaran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type="title"/>
          </p:nvPr>
        </p:nvSpPr>
        <p:spPr>
          <a:xfrm>
            <a:off x="5538784" y="53340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imes New Roman"/>
              <a:buNone/>
              <a:defRPr b="1"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" type="body"/>
          </p:nvPr>
        </p:nvSpPr>
        <p:spPr>
          <a:xfrm>
            <a:off x="5538847" y="1447802"/>
            <a:ext cx="2971800" cy="420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marR="18288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2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3pPr>
            <a:lvl4pPr indent="-228600" lvl="3" marL="1828800" algn="l">
              <a:spcBef>
                <a:spcPts val="230"/>
              </a:spcBef>
              <a:spcAft>
                <a:spcPts val="0"/>
              </a:spcAft>
              <a:buSzPts val="1008"/>
              <a:buNone/>
              <a:defRPr sz="900">
                <a:solidFill>
                  <a:schemeClr val="dk1"/>
                </a:solidFill>
              </a:defRPr>
            </a:lvl4pPr>
            <a:lvl5pPr indent="-228600" lvl="4" marL="2286000" algn="l">
              <a:spcBef>
                <a:spcPts val="25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dk1"/>
                </a:solidFill>
              </a:defRPr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2" type="body"/>
          </p:nvPr>
        </p:nvSpPr>
        <p:spPr>
          <a:xfrm>
            <a:off x="761372" y="930144"/>
            <a:ext cx="4626159" cy="4724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70840" lvl="0" marL="457200" algn="l">
              <a:spcBef>
                <a:spcPts val="250"/>
              </a:spcBef>
              <a:spcAft>
                <a:spcPts val="0"/>
              </a:spcAft>
              <a:buSzPts val="2240"/>
              <a:buChar char="⚫"/>
              <a:defRPr sz="2800">
                <a:solidFill>
                  <a:schemeClr val="dk1"/>
                </a:solidFill>
              </a:defRPr>
            </a:lvl1pPr>
            <a:lvl2pPr indent="-393700" lvl="1" marL="914400" algn="l">
              <a:spcBef>
                <a:spcPts val="250"/>
              </a:spcBef>
              <a:spcAft>
                <a:spcPts val="0"/>
              </a:spcAft>
              <a:buSzPts val="2600"/>
              <a:buChar char="◦"/>
              <a:defRPr sz="2600">
                <a:solidFill>
                  <a:schemeClr val="dk1"/>
                </a:solidFill>
              </a:defRPr>
            </a:lvl2pPr>
            <a:lvl3pPr indent="-381000" lvl="2" marL="1371600" algn="l">
              <a:spcBef>
                <a:spcPts val="25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chemeClr val="dk1"/>
                </a:solidFill>
              </a:defRPr>
            </a:lvl3pPr>
            <a:lvl4pPr indent="-370839" lvl="3" marL="1828800" algn="l">
              <a:spcBef>
                <a:spcPts val="230"/>
              </a:spcBef>
              <a:spcAft>
                <a:spcPts val="0"/>
              </a:spcAft>
              <a:buSzPts val="2240"/>
              <a:buChar char="◦"/>
              <a:defRPr sz="2000">
                <a:solidFill>
                  <a:schemeClr val="dk1"/>
                </a:solidFill>
              </a:defRPr>
            </a:lvl4pPr>
            <a:lvl5pPr indent="-355600" lvl="4" marL="22860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>
                <a:solidFill>
                  <a:schemeClr val="dk1"/>
                </a:solidFill>
              </a:defRPr>
            </a:lvl5pPr>
            <a:lvl6pPr indent="-228600" lvl="5" marL="2743200" algn="l">
              <a:spcBef>
                <a:spcPts val="250"/>
              </a:spcBef>
              <a:spcAft>
                <a:spcPts val="0"/>
              </a:spcAft>
              <a:buSzPts val="1700"/>
              <a:buNone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24"/>
          <p:cNvSpPr txBox="1"/>
          <p:nvPr/>
        </p:nvSpPr>
        <p:spPr>
          <a:xfrm>
            <a:off x="8596448" y="64562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25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fmla="val 2748" name="adj"/>
            </a:avLst>
          </a:prstGeom>
          <a:solidFill>
            <a:srgbClr val="1C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25"/>
          <p:cNvSpPr txBox="1"/>
          <p:nvPr>
            <p:ph type="title"/>
          </p:nvPr>
        </p:nvSpPr>
        <p:spPr>
          <a:xfrm>
            <a:off x="457200" y="5012056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8766F"/>
              </a:buClr>
              <a:buSzPts val="3600"/>
              <a:buFont typeface="Times New Roman"/>
              <a:buNone/>
              <a:defRPr b="0" sz="3600">
                <a:solidFill>
                  <a:srgbClr val="78766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" type="body"/>
          </p:nvPr>
        </p:nvSpPr>
        <p:spPr>
          <a:xfrm>
            <a:off x="6462712" y="533400"/>
            <a:ext cx="2240280" cy="42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spcBef>
                <a:spcPts val="250"/>
              </a:spcBef>
              <a:spcAft>
                <a:spcPts val="0"/>
              </a:spcAft>
              <a:buSzPts val="1200"/>
              <a:buChar char="◦"/>
              <a:defRPr sz="1200">
                <a:solidFill>
                  <a:srgbClr val="FFFFFF"/>
                </a:solidFill>
              </a:defRPr>
            </a:lvl2pPr>
            <a:lvl3pPr indent="-292100" lvl="2" marL="1371600" algn="l">
              <a:spcBef>
                <a:spcPts val="25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rgbClr val="FFFFFF"/>
                </a:solidFill>
              </a:defRPr>
            </a:lvl3pPr>
            <a:lvl4pPr indent="-292608" lvl="3" marL="1828800" algn="l">
              <a:spcBef>
                <a:spcPts val="230"/>
              </a:spcBef>
              <a:spcAft>
                <a:spcPts val="0"/>
              </a:spcAft>
              <a:buSzPts val="1008"/>
              <a:buChar char="◦"/>
              <a:defRPr sz="900">
                <a:solidFill>
                  <a:srgbClr val="FFFFFF"/>
                </a:solidFill>
              </a:defRPr>
            </a:lvl4pPr>
            <a:lvl5pPr indent="-285750" lvl="4" marL="2286000" algn="l">
              <a:spcBef>
                <a:spcPts val="250"/>
              </a:spcBef>
              <a:spcAft>
                <a:spcPts val="0"/>
              </a:spcAft>
              <a:buSzPts val="900"/>
              <a:buChar char="●"/>
              <a:defRPr sz="900">
                <a:solidFill>
                  <a:srgbClr val="FFFFFF"/>
                </a:solidFill>
              </a:defRPr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421480" y="435768"/>
            <a:ext cx="5925312" cy="4343400"/>
          </a:xfrm>
          <a:prstGeom prst="snipRoundRect">
            <a:avLst>
              <a:gd fmla="val 1040" name="adj1"/>
              <a:gd fmla="val 0" name="adj2"/>
            </a:avLst>
          </a:prstGeom>
          <a:solidFill>
            <a:srgbClr val="4F4D49"/>
          </a:solidFill>
          <a:ln>
            <a:noFill/>
          </a:ln>
        </p:spPr>
      </p:sp>
      <p:sp>
        <p:nvSpPr>
          <p:cNvPr id="64" name="Google Shape;64;p25"/>
          <p:cNvSpPr txBox="1"/>
          <p:nvPr/>
        </p:nvSpPr>
        <p:spPr>
          <a:xfrm>
            <a:off x="8596448" y="64562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25"/>
          <p:cNvSpPr txBox="1"/>
          <p:nvPr/>
        </p:nvSpPr>
        <p:spPr>
          <a:xfrm>
            <a:off x="2493648" y="6465760"/>
            <a:ext cx="4238592" cy="3966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Security (CS3403)– RVU – Mouli Sankaran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/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1" type="body"/>
          </p:nvPr>
        </p:nvSpPr>
        <p:spPr>
          <a:xfrm rot="5400000">
            <a:off x="2500884" y="-1467612"/>
            <a:ext cx="4187952" cy="818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20040" lvl="0" marL="45720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56616" lvl="3" marL="1828800" algn="l">
              <a:spcBef>
                <a:spcPts val="230"/>
              </a:spcBef>
              <a:spcAft>
                <a:spcPts val="0"/>
              </a:spcAft>
              <a:buSzPts val="2016"/>
              <a:buChar char="◦"/>
              <a:defRPr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9" name="Google Shape;69;p26"/>
          <p:cNvSpPr txBox="1"/>
          <p:nvPr/>
        </p:nvSpPr>
        <p:spPr>
          <a:xfrm>
            <a:off x="8596448" y="64562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/>
          <p:nvPr>
            <p:ph type="title"/>
          </p:nvPr>
        </p:nvSpPr>
        <p:spPr>
          <a:xfrm rot="5400000">
            <a:off x="4991101" y="2171704"/>
            <a:ext cx="525779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" type="body"/>
          </p:nvPr>
        </p:nvSpPr>
        <p:spPr>
          <a:xfrm rot="5400000">
            <a:off x="876300" y="190503"/>
            <a:ext cx="5257801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20040" lvl="0" marL="45720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56616" lvl="3" marL="1828800" algn="l">
              <a:spcBef>
                <a:spcPts val="230"/>
              </a:spcBef>
              <a:spcAft>
                <a:spcPts val="0"/>
              </a:spcAft>
              <a:buSzPts val="2016"/>
              <a:buChar char="◦"/>
              <a:defRPr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7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3" name="Google Shape;73;p27"/>
          <p:cNvSpPr txBox="1"/>
          <p:nvPr/>
        </p:nvSpPr>
        <p:spPr>
          <a:xfrm>
            <a:off x="8596448" y="64562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1" name="Google Shape;101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2" name="Google Shape;10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8" name="Google Shape;108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9" name="Google Shape;109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0" name="Google Shape;110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1" name="Google Shape;11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6" name="Google Shape;126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7" name="Google Shape;12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107504" y="116632"/>
            <a:ext cx="8856984" cy="6480720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6"/>
          <p:cNvSpPr/>
          <p:nvPr/>
        </p:nvSpPr>
        <p:spPr>
          <a:xfrm>
            <a:off x="395536" y="260648"/>
            <a:ext cx="8306809" cy="834598"/>
          </a:xfrm>
          <a:prstGeom prst="roundRect">
            <a:avLst>
              <a:gd fmla="val 2127" name="adj"/>
            </a:avLst>
          </a:prstGeom>
          <a:solidFill>
            <a:srgbClr val="86C4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16"/>
          <p:cNvSpPr txBox="1"/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3600"/>
              <a:buFont typeface="Times New Roman"/>
              <a:buNone/>
              <a:defRPr b="1" i="0" sz="3600" u="none" cap="none" strike="noStrike">
                <a:solidFill>
                  <a:srgbClr val="FF8C3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70840" lvl="0" marL="457200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68300" lvl="2" marL="1371600" marR="0" rtl="0" algn="l">
              <a:spcBef>
                <a:spcPts val="250"/>
              </a:spcBef>
              <a:spcAft>
                <a:spcPts val="0"/>
              </a:spcAft>
              <a:buClr>
                <a:srgbClr val="EF323E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63728" lvl="3" marL="1828800" marR="0" rtl="0" algn="l">
              <a:spcBef>
                <a:spcPts val="230"/>
              </a:spcBef>
              <a:spcAft>
                <a:spcPts val="0"/>
              </a:spcAft>
              <a:buClr>
                <a:srgbClr val="EF323E"/>
              </a:buClr>
              <a:buSzPts val="2128"/>
              <a:buFont typeface="Verdana"/>
              <a:buChar char="◦"/>
              <a:defRPr b="0" i="0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250"/>
              </a:spcBef>
              <a:spcAft>
                <a:spcPts val="0"/>
              </a:spcAft>
              <a:buClr>
                <a:srgbClr val="4882BE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6550" lvl="5" marL="2743200" marR="0" rtl="0" algn="l">
              <a:spcBef>
                <a:spcPts val="250"/>
              </a:spcBef>
              <a:spcAft>
                <a:spcPts val="0"/>
              </a:spcAft>
              <a:buClr>
                <a:srgbClr val="4882BE"/>
              </a:buClr>
              <a:buSzPts val="1700"/>
              <a:buFont typeface="Verdana"/>
              <a:buChar char="◦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23850" lvl="6" marL="3200400" marR="0" rtl="0" algn="l">
              <a:spcBef>
                <a:spcPts val="255"/>
              </a:spcBef>
              <a:spcAft>
                <a:spcPts val="0"/>
              </a:spcAft>
              <a:buClr>
                <a:srgbClr val="4882BE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23850" lvl="7" marL="3657600" marR="0" rtl="0" algn="l">
              <a:spcBef>
                <a:spcPts val="257"/>
              </a:spcBef>
              <a:spcAft>
                <a:spcPts val="0"/>
              </a:spcAft>
              <a:buClr>
                <a:srgbClr val="4882BE"/>
              </a:buClr>
              <a:buSzPts val="1500"/>
              <a:buFont typeface="Verdana"/>
              <a:buChar char="◦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23850" lvl="8" marL="4114800" marR="0" rtl="0" algn="l">
              <a:spcBef>
                <a:spcPts val="255"/>
              </a:spcBef>
              <a:spcAft>
                <a:spcPts val="0"/>
              </a:spcAft>
              <a:buClr>
                <a:srgbClr val="4882BE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04448" y="64544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6"/>
          <p:cNvSpPr txBox="1"/>
          <p:nvPr/>
        </p:nvSpPr>
        <p:spPr>
          <a:xfrm>
            <a:off x="2493648" y="6465760"/>
            <a:ext cx="4238592" cy="3966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Security (CS3403)– RVU – Mouli Sankaran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ites.google.com/rvu.edu.in/cs3403netsec/home" TargetMode="External"/><Relationship Id="rId4" Type="http://schemas.openxmlformats.org/officeDocument/2006/relationships/hyperlink" Target="https://thonny.org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polarsparc.com/xhtml/IntroToWSL2.html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hyperlink" Target="https://www.howtogeek.com/426749/how-to-access-your-linux-wsl-files-in-windows-10/" TargetMode="External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"/>
          <p:cNvSpPr txBox="1"/>
          <p:nvPr>
            <p:ph type="title"/>
          </p:nvPr>
        </p:nvSpPr>
        <p:spPr>
          <a:xfrm>
            <a:off x="467544" y="1340768"/>
            <a:ext cx="8208912" cy="5328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br>
              <a:rPr lang="en-US" sz="4900">
                <a:solidFill>
                  <a:srgbClr val="C00000"/>
                </a:solidFill>
              </a:rPr>
            </a:br>
            <a:r>
              <a:rPr lang="en-US" sz="4000">
                <a:solidFill>
                  <a:srgbClr val="B45F06"/>
                </a:solidFill>
              </a:rPr>
              <a:t>Network Security</a:t>
            </a:r>
            <a:endParaRPr sz="4000">
              <a:solidFill>
                <a:srgbClr val="B45F0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US" sz="4900">
                <a:solidFill>
                  <a:srgbClr val="C00000"/>
                </a:solidFill>
              </a:rPr>
              <a:t>CS3403</a:t>
            </a:r>
            <a:br>
              <a:rPr lang="en-US" sz="5400">
                <a:solidFill>
                  <a:srgbClr val="C00000"/>
                </a:solidFill>
              </a:rPr>
            </a:br>
            <a:br>
              <a:rPr lang="en-US" sz="5400">
                <a:solidFill>
                  <a:srgbClr val="C00000"/>
                </a:solidFill>
              </a:rPr>
            </a:br>
            <a:r>
              <a:rPr lang="en-US" sz="3200">
                <a:solidFill>
                  <a:srgbClr val="0066FF"/>
                </a:solidFill>
              </a:rPr>
              <a:t>Lab 3</a:t>
            </a:r>
            <a:br>
              <a:rPr lang="en-US" sz="3200">
                <a:solidFill>
                  <a:srgbClr val="0066FF"/>
                </a:solidFill>
              </a:rPr>
            </a:br>
            <a:r>
              <a:rPr lang="en-US" sz="2800">
                <a:solidFill>
                  <a:srgbClr val="48365A"/>
                </a:solidFill>
              </a:rPr>
              <a:t>TCP Sockets between WSL and Windows</a:t>
            </a:r>
            <a:br>
              <a:rPr lang="en-US" sz="2800">
                <a:solidFill>
                  <a:srgbClr val="48365A"/>
                </a:solidFill>
              </a:rPr>
            </a:br>
            <a:br>
              <a:rPr lang="en-US" sz="4400">
                <a:solidFill>
                  <a:srgbClr val="C00000"/>
                </a:solidFill>
              </a:rPr>
            </a:br>
            <a:r>
              <a:rPr lang="en-US" sz="4400">
                <a:solidFill>
                  <a:srgbClr val="C00000"/>
                </a:solidFill>
              </a:rPr>
              <a:t> </a:t>
            </a:r>
            <a:br>
              <a:rPr lang="en-US" sz="5400">
                <a:solidFill>
                  <a:srgbClr val="C00000"/>
                </a:solidFill>
              </a:rPr>
            </a:br>
            <a:r>
              <a:rPr lang="en-US" sz="3200">
                <a:solidFill>
                  <a:srgbClr val="C00000"/>
                </a:solidFill>
              </a:rPr>
              <a:t>Mouli Sankaran</a:t>
            </a:r>
            <a:endParaRPr sz="3600">
              <a:solidFill>
                <a:srgbClr val="C00000"/>
              </a:solidFill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1691680" y="5013176"/>
            <a:ext cx="653063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</a:t>
            </a: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Mac users can do WSL experiments on their own machines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work with other classmates for Windows related activities</a:t>
            </a:r>
            <a:r>
              <a:rPr lang="en-US" sz="1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have any VM installed try the same between Mac and the VM</a:t>
            </a:r>
            <a:endParaRPr sz="18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"/>
          <p:cNvSpPr txBox="1"/>
          <p:nvPr>
            <p:ph type="title"/>
          </p:nvPr>
        </p:nvSpPr>
        <p:spPr>
          <a:xfrm>
            <a:off x="719572" y="311955"/>
            <a:ext cx="7704856" cy="57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3200"/>
              <a:buFont typeface="Times New Roman"/>
              <a:buNone/>
            </a:pPr>
            <a:r>
              <a:rPr lang="en-US" sz="3200"/>
              <a:t>Lab 3: Focus</a:t>
            </a:r>
            <a:endParaRPr sz="3200"/>
          </a:p>
        </p:txBody>
      </p:sp>
      <p:sp>
        <p:nvSpPr>
          <p:cNvPr id="166" name="Google Shape;166;p2"/>
          <p:cNvSpPr txBox="1"/>
          <p:nvPr/>
        </p:nvSpPr>
        <p:spPr>
          <a:xfrm>
            <a:off x="1763688" y="5733256"/>
            <a:ext cx="55152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Course page </a:t>
            </a:r>
            <a:r>
              <a:rPr b="1" lang="en-US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the course materials will be posted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course progresses:</a:t>
            </a:r>
            <a:endParaRPr/>
          </a:p>
        </p:txBody>
      </p:sp>
      <p:sp>
        <p:nvSpPr>
          <p:cNvPr id="167" name="Google Shape;167;p2"/>
          <p:cNvSpPr txBox="1"/>
          <p:nvPr>
            <p:ph idx="1" type="body"/>
          </p:nvPr>
        </p:nvSpPr>
        <p:spPr>
          <a:xfrm>
            <a:off x="1746560" y="1196752"/>
            <a:ext cx="6574684" cy="260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 lnSpcReduction="10000"/>
          </a:bodyPr>
          <a:lstStyle/>
          <a:p>
            <a:pPr indent="-265176" lvl="0" marL="265176" rtl="0" algn="l"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WSL Explained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Server and Client Interactions</a:t>
            </a:r>
            <a:endParaRPr/>
          </a:p>
          <a:p>
            <a:pPr indent="-201168" lvl="1" marL="548640" rtl="0" algn="l">
              <a:spcBef>
                <a:spcPts val="25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Using TCP Connection between WSL and Windows</a:t>
            </a:r>
            <a:endParaRPr/>
          </a:p>
          <a:p>
            <a:pPr indent="-201168" lvl="1" marL="548640" rtl="0" algn="l">
              <a:spcBef>
                <a:spcPts val="25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Connection Establishment Explained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Analyze the TCP Segments: Wireshark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Experiments to be done in the Lab</a:t>
            </a:r>
            <a:endParaRPr/>
          </a:p>
          <a:p>
            <a:pPr indent="-201168" lvl="1" marL="548640" rtl="0" algn="l">
              <a:spcBef>
                <a:spcPts val="25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Exp 1 and Exp 2</a:t>
            </a:r>
            <a:endParaRPr/>
          </a:p>
        </p:txBody>
      </p:sp>
      <p:sp>
        <p:nvSpPr>
          <p:cNvPr id="168" name="Google Shape;168;p2"/>
          <p:cNvSpPr txBox="1"/>
          <p:nvPr/>
        </p:nvSpPr>
        <p:spPr>
          <a:xfrm>
            <a:off x="2411760" y="4653136"/>
            <a:ext cx="40386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6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IDE used on Windows: </a:t>
            </a:r>
            <a:r>
              <a:rPr b="1" lang="en-US" sz="1800" u="sng">
                <a:solidFill>
                  <a:srgbClr val="0066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Thonny</a:t>
            </a:r>
            <a:endParaRPr b="1" sz="1800">
              <a:solidFill>
                <a:srgbClr val="0066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"/>
          <p:cNvSpPr txBox="1"/>
          <p:nvPr>
            <p:ph type="title"/>
          </p:nvPr>
        </p:nvSpPr>
        <p:spPr>
          <a:xfrm>
            <a:off x="467544" y="3573016"/>
            <a:ext cx="8471912" cy="1872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C00000"/>
                </a:solidFill>
              </a:rPr>
              <a:t>WSL Explained</a:t>
            </a:r>
            <a:endParaRPr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/>
          <p:nvPr>
            <p:ph type="title"/>
          </p:nvPr>
        </p:nvSpPr>
        <p:spPr>
          <a:xfrm>
            <a:off x="611560" y="332656"/>
            <a:ext cx="8183880" cy="589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ct val="100000"/>
              <a:buFont typeface="Times New Roman"/>
              <a:buNone/>
            </a:pPr>
            <a:r>
              <a:rPr lang="en-US"/>
              <a:t>WSL: Explained</a:t>
            </a:r>
            <a:endParaRPr/>
          </a:p>
        </p:txBody>
      </p:sp>
      <p:sp>
        <p:nvSpPr>
          <p:cNvPr id="179" name="Google Shape;179;p4"/>
          <p:cNvSpPr txBox="1"/>
          <p:nvPr>
            <p:ph idx="1" type="body"/>
          </p:nvPr>
        </p:nvSpPr>
        <p:spPr>
          <a:xfrm>
            <a:off x="182336" y="1124743"/>
            <a:ext cx="4101632" cy="55446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/>
          <a:p>
            <a:pPr indent="-265176" lvl="0" marL="265176" rtl="0" algn="l">
              <a:spcBef>
                <a:spcPts val="0"/>
              </a:spcBef>
              <a:spcAft>
                <a:spcPts val="0"/>
              </a:spcAft>
              <a:buSzPts val="1600"/>
              <a:buChar char="⚫"/>
            </a:pPr>
            <a:r>
              <a:rPr lang="en-US" sz="2000"/>
              <a:t>The Windows Subsystem for Linux (WSL) allows users to run Linux applications and command-line tools on Windows. 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600"/>
              <a:buChar char="⚫"/>
            </a:pPr>
            <a:r>
              <a:rPr lang="en-US" sz="2000"/>
              <a:t>WSL works by translating Linux system calls into Windows system calls.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600"/>
              <a:buChar char="⚫"/>
            </a:pPr>
            <a:r>
              <a:rPr lang="en-US" sz="2000"/>
              <a:t>WSL allows Linux binaries to run on Windows without the need for a virtual machine or dual booting.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600"/>
              <a:buChar char="⚫"/>
            </a:pPr>
            <a:r>
              <a:rPr lang="en-US" sz="2000"/>
              <a:t>WSL manages the Linux file system, network, and process execution.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600"/>
              <a:buChar char="⚫"/>
            </a:pPr>
            <a:r>
              <a:rPr lang="en-US" sz="2000"/>
              <a:t>WSL creates a Virtual Hard Disk (VHD) to store files for each Linux distribution. In our case Ubuntu.</a:t>
            </a:r>
            <a:endParaRPr/>
          </a:p>
        </p:txBody>
      </p:sp>
      <p:sp>
        <p:nvSpPr>
          <p:cNvPr id="180" name="Google Shape;180;p4"/>
          <p:cNvSpPr txBox="1"/>
          <p:nvPr>
            <p:ph idx="4294967295" type="sldNum"/>
          </p:nvPr>
        </p:nvSpPr>
        <p:spPr>
          <a:xfrm>
            <a:off x="8686800" y="64547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6494250" y="471890"/>
            <a:ext cx="21512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Ref: </a:t>
            </a:r>
            <a:r>
              <a:rPr b="1" lang="en-US" sz="1800" u="sng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 to WSL 2</a:t>
            </a:r>
            <a:endParaRPr b="1" sz="18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WSL 2 Architecture" id="182" name="Google Shape;1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7175" y="1466057"/>
            <a:ext cx="46196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 txBox="1"/>
          <p:nvPr/>
        </p:nvSpPr>
        <p:spPr>
          <a:xfrm>
            <a:off x="6664713" y="4562840"/>
            <a:ext cx="9051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(Type 1)</a:t>
            </a:r>
            <a:endParaRPr b="1"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 txBox="1"/>
          <p:nvPr>
            <p:ph type="title"/>
          </p:nvPr>
        </p:nvSpPr>
        <p:spPr>
          <a:xfrm>
            <a:off x="539552" y="332656"/>
            <a:ext cx="8183880" cy="733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3600"/>
              <a:buFont typeface="Times New Roman"/>
              <a:buNone/>
            </a:pPr>
            <a:r>
              <a:rPr lang="en-US"/>
              <a:t>WSL: Explained</a:t>
            </a:r>
            <a:endParaRPr/>
          </a:p>
        </p:txBody>
      </p:sp>
      <p:sp>
        <p:nvSpPr>
          <p:cNvPr id="189" name="Google Shape;189;p5"/>
          <p:cNvSpPr txBox="1"/>
          <p:nvPr>
            <p:ph idx="1" type="body"/>
          </p:nvPr>
        </p:nvSpPr>
        <p:spPr>
          <a:xfrm>
            <a:off x="0" y="1023927"/>
            <a:ext cx="8651901" cy="238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/>
          <a:p>
            <a:pPr indent="-265176" lvl="0" marL="265176" rtl="0" algn="l">
              <a:spcBef>
                <a:spcPts val="0"/>
              </a:spcBef>
              <a:spcAft>
                <a:spcPts val="0"/>
              </a:spcAft>
              <a:buSzPts val="1600"/>
              <a:buChar char="⚫"/>
            </a:pPr>
            <a:r>
              <a:rPr lang="en-US" sz="2000"/>
              <a:t>The Lightweight Utility VM has been optimized to load the Linux kernel into the VM's address space without going through any Boot Loader process, thereby achieving fast startup time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600"/>
              <a:buChar char="⚫"/>
            </a:pPr>
            <a:r>
              <a:rPr lang="en-US" sz="2000"/>
              <a:t>WSL supports only x64 and Arm CPUs.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600"/>
              <a:buChar char="⚫"/>
            </a:pPr>
            <a:r>
              <a:rPr lang="en-US" sz="2000"/>
              <a:t>Using your mounted drives, you can edit code in, for example, </a:t>
            </a:r>
            <a:r>
              <a:rPr i="1" lang="en-US" sz="2000">
                <a:solidFill>
                  <a:srgbClr val="0066FF"/>
                </a:solidFill>
              </a:rPr>
              <a:t>C:\dev\myproj\ </a:t>
            </a:r>
            <a:r>
              <a:rPr lang="en-US" sz="2000"/>
              <a:t>using Visual Studio or VS Code, and build/test that code in Linux by accessing the same files via </a:t>
            </a:r>
            <a:r>
              <a:rPr i="1" lang="en-US" sz="2000">
                <a:solidFill>
                  <a:srgbClr val="0066FF"/>
                </a:solidFill>
              </a:rPr>
              <a:t>/mnt/c/dev/myproj</a:t>
            </a:r>
            <a:endParaRPr i="1" sz="2000">
              <a:solidFill>
                <a:srgbClr val="0066FF"/>
              </a:solidFill>
            </a:endParaRPr>
          </a:p>
          <a:p>
            <a:pPr indent="-153415" lvl="0" marL="265176" rtl="0" algn="l">
              <a:spcBef>
                <a:spcPts val="25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sz="2200"/>
          </a:p>
        </p:txBody>
      </p:sp>
      <p:grpSp>
        <p:nvGrpSpPr>
          <p:cNvPr id="190" name="Google Shape;190;p5"/>
          <p:cNvGrpSpPr/>
          <p:nvPr/>
        </p:nvGrpSpPr>
        <p:grpSpPr>
          <a:xfrm>
            <a:off x="260624" y="3861048"/>
            <a:ext cx="4174925" cy="2432219"/>
            <a:chOff x="54537" y="2107885"/>
            <a:chExt cx="4174925" cy="2432219"/>
          </a:xfrm>
        </p:grpSpPr>
        <p:sp>
          <p:nvSpPr>
            <p:cNvPr id="191" name="Google Shape;191;p5"/>
            <p:cNvSpPr txBox="1"/>
            <p:nvPr/>
          </p:nvSpPr>
          <p:spPr>
            <a:xfrm>
              <a:off x="54537" y="2107885"/>
              <a:ext cx="41749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Accessing Windows filesystem from WSL: </a:t>
              </a:r>
              <a:r>
                <a:rPr b="1" lang="en-US" sz="16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/mnt</a:t>
              </a:r>
              <a:endParaRPr b="1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92" name="Google Shape;192;p5"/>
            <p:cNvPicPr preferRelativeResize="0"/>
            <p:nvPr/>
          </p:nvPicPr>
          <p:blipFill rotWithShape="1">
            <a:blip r:embed="rId3">
              <a:alphaModFix/>
            </a:blip>
            <a:srcRect b="0" l="2886" r="0" t="0"/>
            <a:stretch/>
          </p:blipFill>
          <p:spPr>
            <a:xfrm>
              <a:off x="275544" y="2528322"/>
              <a:ext cx="3687614" cy="20117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" name="Google Shape;193;p5"/>
          <p:cNvGrpSpPr/>
          <p:nvPr/>
        </p:nvGrpSpPr>
        <p:grpSpPr>
          <a:xfrm>
            <a:off x="4402381" y="3539522"/>
            <a:ext cx="4501040" cy="2838132"/>
            <a:chOff x="4317825" y="1811620"/>
            <a:chExt cx="4501040" cy="2838132"/>
          </a:xfrm>
        </p:grpSpPr>
        <p:grpSp>
          <p:nvGrpSpPr>
            <p:cNvPr id="194" name="Google Shape;194;p5"/>
            <p:cNvGrpSpPr/>
            <p:nvPr/>
          </p:nvGrpSpPr>
          <p:grpSpPr>
            <a:xfrm>
              <a:off x="4317825" y="1811620"/>
              <a:ext cx="4501040" cy="2815300"/>
              <a:chOff x="4317825" y="1811620"/>
              <a:chExt cx="4501040" cy="2815300"/>
            </a:xfrm>
          </p:grpSpPr>
          <p:sp>
            <p:nvSpPr>
              <p:cNvPr id="195" name="Google Shape;195;p5"/>
              <p:cNvSpPr txBox="1"/>
              <p:nvPr/>
            </p:nvSpPr>
            <p:spPr>
              <a:xfrm>
                <a:off x="4317825" y="1811620"/>
                <a:ext cx="450104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Enter</a:t>
                </a:r>
                <a:r>
                  <a:rPr b="1" lang="en-US" sz="160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\\wsl$</a:t>
                </a:r>
                <a:r>
                  <a:rPr lang="en-US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in the File Explorer address bar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to view the filesystem of Linux distribution on WSL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 u="sng">
                    <a:solidFill>
                      <a:srgbClr val="0000CC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  <a:hlinkClick r:id="rId4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Ref link</a:t>
                </a:r>
                <a:r>
                  <a:rPr lang="en-US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/>
              </a:p>
            </p:txBody>
          </p:sp>
          <p:pic>
            <p:nvPicPr>
              <p:cNvPr id="196" name="Google Shape;196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1521" r="0" t="3569"/>
              <a:stretch/>
            </p:blipFill>
            <p:spPr>
              <a:xfrm>
                <a:off x="4317825" y="2642617"/>
                <a:ext cx="4501040" cy="19843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97" name="Google Shape;197;p5"/>
            <p:cNvSpPr/>
            <p:nvPr/>
          </p:nvSpPr>
          <p:spPr>
            <a:xfrm rot="10800000">
              <a:off x="6804248" y="4145696"/>
              <a:ext cx="288032" cy="504056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42500">
              <a:solidFill>
                <a:srgbClr val="6535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8" name="Google Shape;198;p5"/>
          <p:cNvSpPr txBox="1"/>
          <p:nvPr/>
        </p:nvSpPr>
        <p:spPr>
          <a:xfrm>
            <a:off x="4109352" y="3259723"/>
            <a:ext cx="503464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 Linux filesystem (WSL) from Windows: </a:t>
            </a:r>
            <a:r>
              <a:rPr b="1"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\\wsl$ </a:t>
            </a:r>
            <a:endParaRPr b="1"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/>
          <p:nvPr>
            <p:ph type="title"/>
          </p:nvPr>
        </p:nvSpPr>
        <p:spPr>
          <a:xfrm>
            <a:off x="467544" y="3573016"/>
            <a:ext cx="8471912" cy="1872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C00000"/>
                </a:solidFill>
              </a:rPr>
              <a:t>Server and Client Interactions</a:t>
            </a:r>
            <a:endParaRPr sz="2800">
              <a:solidFill>
                <a:srgbClr val="FF0000"/>
              </a:solidFill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1777538" y="5733256"/>
            <a:ext cx="58519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Ref1: TCP/IP Illustrated-Volume 1: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13: TCP Connection Establishment and Termination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"/>
          <p:cNvSpPr txBox="1"/>
          <p:nvPr>
            <p:ph type="title"/>
          </p:nvPr>
        </p:nvSpPr>
        <p:spPr>
          <a:xfrm>
            <a:off x="707520" y="260648"/>
            <a:ext cx="8183880" cy="733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ct val="100000"/>
              <a:buFont typeface="Times New Roman"/>
              <a:buNone/>
            </a:pPr>
            <a:r>
              <a:rPr lang="en-US"/>
              <a:t>Exp: System </a:t>
            </a:r>
            <a:r>
              <a:rPr lang="en-US" sz="3200"/>
              <a:t>Diagram</a:t>
            </a:r>
            <a:br>
              <a:rPr lang="en-US" sz="3200"/>
            </a:br>
            <a:r>
              <a:rPr lang="en-US" sz="2700">
                <a:solidFill>
                  <a:srgbClr val="0066FF"/>
                </a:solidFill>
              </a:rPr>
              <a:t>(sample Python code shared)</a:t>
            </a:r>
            <a:endParaRPr>
              <a:solidFill>
                <a:srgbClr val="0066FF"/>
              </a:solidFill>
            </a:endParaRPr>
          </a:p>
        </p:txBody>
      </p:sp>
      <p:sp>
        <p:nvSpPr>
          <p:cNvPr id="210" name="Google Shape;210;p7"/>
          <p:cNvSpPr txBox="1"/>
          <p:nvPr>
            <p:ph idx="1" type="body"/>
          </p:nvPr>
        </p:nvSpPr>
        <p:spPr>
          <a:xfrm>
            <a:off x="43507" y="4515804"/>
            <a:ext cx="4989792" cy="2081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/>
          <a:p>
            <a:pPr indent="-265176" lvl="0" marL="265176" rtl="0" algn="l">
              <a:spcBef>
                <a:spcPts val="0"/>
              </a:spcBef>
              <a:spcAft>
                <a:spcPts val="0"/>
              </a:spcAft>
              <a:buSzPts val="1600"/>
              <a:buChar char="⚫"/>
            </a:pPr>
            <a:r>
              <a:rPr b="1" lang="en-US" sz="2000"/>
              <a:t>Exp 0</a:t>
            </a:r>
            <a:r>
              <a:rPr lang="en-US" sz="2000"/>
              <a:t>: Run the below python programs</a:t>
            </a:r>
            <a:endParaRPr/>
          </a:p>
          <a:p>
            <a:pPr indent="-201168" lvl="1" marL="548640" rtl="0" algn="l">
              <a:spcBef>
                <a:spcPts val="250"/>
              </a:spcBef>
              <a:spcAft>
                <a:spcPts val="0"/>
              </a:spcAft>
              <a:buSzPts val="2000"/>
              <a:buChar char="◦"/>
            </a:pPr>
            <a:r>
              <a:rPr b="1" lang="en-US" sz="2000"/>
              <a:t>On WSL</a:t>
            </a:r>
            <a:r>
              <a:rPr lang="en-US" sz="2000"/>
              <a:t>: </a:t>
            </a:r>
            <a:r>
              <a:rPr b="1" lang="en-US" sz="2000"/>
              <a:t>Lab1_exp0_server_WSL.py  </a:t>
            </a:r>
            <a:r>
              <a:rPr lang="en-US" sz="2000"/>
              <a:t>- this should be run first</a:t>
            </a:r>
            <a:endParaRPr/>
          </a:p>
          <a:p>
            <a:pPr indent="-201168" lvl="1" marL="548640" rtl="0" algn="l">
              <a:spcBef>
                <a:spcPts val="250"/>
              </a:spcBef>
              <a:spcAft>
                <a:spcPts val="0"/>
              </a:spcAft>
              <a:buSzPts val="2000"/>
              <a:buChar char="◦"/>
            </a:pPr>
            <a:r>
              <a:rPr b="1" lang="en-US" sz="2000"/>
              <a:t>On Windows: Lab1_exp0_client_Win.py </a:t>
            </a:r>
            <a:r>
              <a:rPr lang="en-US" sz="2000"/>
              <a:t>– this should be run next</a:t>
            </a:r>
            <a:endParaRPr/>
          </a:p>
        </p:txBody>
      </p:sp>
      <p:sp>
        <p:nvSpPr>
          <p:cNvPr id="211" name="Google Shape;211;p7"/>
          <p:cNvSpPr txBox="1"/>
          <p:nvPr>
            <p:ph idx="4294967295" type="sldNum"/>
          </p:nvPr>
        </p:nvSpPr>
        <p:spPr>
          <a:xfrm>
            <a:off x="8686800" y="64547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2" name="Google Shape;212;p7"/>
          <p:cNvGrpSpPr/>
          <p:nvPr/>
        </p:nvGrpSpPr>
        <p:grpSpPr>
          <a:xfrm>
            <a:off x="289200" y="1124744"/>
            <a:ext cx="6336704" cy="3312368"/>
            <a:chOff x="1403648" y="1167624"/>
            <a:chExt cx="6336704" cy="3312368"/>
          </a:xfrm>
        </p:grpSpPr>
        <p:sp>
          <p:nvSpPr>
            <p:cNvPr id="213" name="Google Shape;213;p7"/>
            <p:cNvSpPr/>
            <p:nvPr/>
          </p:nvSpPr>
          <p:spPr>
            <a:xfrm>
              <a:off x="1403648" y="1167624"/>
              <a:ext cx="6336704" cy="3312368"/>
            </a:xfrm>
            <a:prstGeom prst="rect">
              <a:avLst/>
            </a:prstGeom>
            <a:solidFill>
              <a:srgbClr val="BFAECF">
                <a:alpha val="13725"/>
              </a:srgbClr>
            </a:solidFill>
            <a:ln cap="flat" cmpd="sng" w="42500">
              <a:solidFill>
                <a:srgbClr val="6535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1834145" y="1599672"/>
              <a:ext cx="2520280" cy="2405392"/>
            </a:xfrm>
            <a:prstGeom prst="rect">
              <a:avLst/>
            </a:prstGeom>
            <a:solidFill>
              <a:srgbClr val="FBCB99"/>
            </a:solidFill>
            <a:ln cap="flat" cmpd="sng" w="42500">
              <a:solidFill>
                <a:srgbClr val="6535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4941352" y="1609481"/>
              <a:ext cx="2520280" cy="2357971"/>
            </a:xfrm>
            <a:prstGeom prst="rect">
              <a:avLst/>
            </a:prstGeom>
            <a:solidFill>
              <a:srgbClr val="FBCB99"/>
            </a:solidFill>
            <a:ln cap="flat" cmpd="sng" w="42500">
              <a:solidFill>
                <a:srgbClr val="6535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7"/>
            <p:cNvSpPr txBox="1"/>
            <p:nvPr/>
          </p:nvSpPr>
          <p:spPr>
            <a:xfrm>
              <a:off x="3707904" y="1198982"/>
              <a:ext cx="20207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Windows Machine</a:t>
              </a:r>
              <a:endParaRPr b="1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p7"/>
            <p:cNvSpPr txBox="1"/>
            <p:nvPr/>
          </p:nvSpPr>
          <p:spPr>
            <a:xfrm>
              <a:off x="5154655" y="1652486"/>
              <a:ext cx="223016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WSL (Ubuntu 22.04)</a:t>
              </a:r>
              <a:endParaRPr b="1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p7"/>
            <p:cNvSpPr txBox="1"/>
            <p:nvPr/>
          </p:nvSpPr>
          <p:spPr>
            <a:xfrm>
              <a:off x="2542371" y="1617484"/>
              <a:ext cx="11038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Windows</a:t>
              </a:r>
              <a:endParaRPr b="1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2775640" y="2968249"/>
              <a:ext cx="817216" cy="921502"/>
            </a:xfrm>
            <a:prstGeom prst="rect">
              <a:avLst/>
            </a:prstGeom>
            <a:solidFill>
              <a:srgbClr val="E59BA3"/>
            </a:solidFill>
            <a:ln cap="flat" cmpd="sng" w="42500">
              <a:solidFill>
                <a:srgbClr val="6535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NW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</a:t>
              </a:r>
              <a:endParaRPr b="1" sz="1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5686448" y="2109020"/>
              <a:ext cx="952848" cy="369332"/>
            </a:xfrm>
            <a:prstGeom prst="rect">
              <a:avLst/>
            </a:prstGeom>
            <a:solidFill>
              <a:srgbClr val="CBCBCB"/>
            </a:solidFill>
            <a:ln cap="flat" cmpd="sng" w="42500">
              <a:solidFill>
                <a:srgbClr val="6535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Server</a:t>
              </a:r>
              <a:endParaRPr b="1" sz="1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21" name="Google Shape;221;p7"/>
            <p:cNvCxnSpPr>
              <a:endCxn id="219" idx="0"/>
            </p:cNvCxnSpPr>
            <p:nvPr/>
          </p:nvCxnSpPr>
          <p:spPr>
            <a:xfrm>
              <a:off x="3182748" y="2518549"/>
              <a:ext cx="1500" cy="449700"/>
            </a:xfrm>
            <a:prstGeom prst="straightConnector1">
              <a:avLst/>
            </a:prstGeom>
            <a:noFill/>
            <a:ln cap="flat" cmpd="sng" w="50800">
              <a:solidFill>
                <a:srgbClr val="FF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2" name="Google Shape;222;p7"/>
            <p:cNvSpPr/>
            <p:nvPr/>
          </p:nvSpPr>
          <p:spPr>
            <a:xfrm>
              <a:off x="5764636" y="2968249"/>
              <a:ext cx="817216" cy="921502"/>
            </a:xfrm>
            <a:prstGeom prst="rect">
              <a:avLst/>
            </a:prstGeom>
            <a:solidFill>
              <a:srgbClr val="E59BA3"/>
            </a:solidFill>
            <a:ln cap="flat" cmpd="sng" w="42500">
              <a:solidFill>
                <a:srgbClr val="6535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NW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</a:t>
              </a:r>
              <a:endParaRPr b="1" sz="1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2706217" y="2127347"/>
              <a:ext cx="952848" cy="369332"/>
            </a:xfrm>
            <a:prstGeom prst="rect">
              <a:avLst/>
            </a:prstGeom>
            <a:solidFill>
              <a:srgbClr val="CBCBCB"/>
            </a:solidFill>
            <a:ln cap="flat" cmpd="sng" w="42500">
              <a:solidFill>
                <a:srgbClr val="6535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Client</a:t>
              </a:r>
              <a:endParaRPr b="1" sz="1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24" name="Google Shape;224;p7"/>
            <p:cNvCxnSpPr>
              <a:endCxn id="222" idx="0"/>
            </p:cNvCxnSpPr>
            <p:nvPr/>
          </p:nvCxnSpPr>
          <p:spPr>
            <a:xfrm>
              <a:off x="6171744" y="2518549"/>
              <a:ext cx="1500" cy="449700"/>
            </a:xfrm>
            <a:prstGeom prst="straightConnector1">
              <a:avLst/>
            </a:prstGeom>
            <a:noFill/>
            <a:ln cap="flat" cmpd="sng" w="50800">
              <a:solidFill>
                <a:srgbClr val="FF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5" name="Google Shape;225;p7"/>
            <p:cNvCxnSpPr/>
            <p:nvPr/>
          </p:nvCxnSpPr>
          <p:spPr>
            <a:xfrm>
              <a:off x="6147747" y="3889751"/>
              <a:ext cx="0" cy="449709"/>
            </a:xfrm>
            <a:prstGeom prst="straightConnector1">
              <a:avLst/>
            </a:prstGeom>
            <a:noFill/>
            <a:ln cap="flat" cmpd="sng" w="50800">
              <a:solidFill>
                <a:srgbClr val="FF8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7"/>
            <p:cNvCxnSpPr/>
            <p:nvPr/>
          </p:nvCxnSpPr>
          <p:spPr>
            <a:xfrm>
              <a:off x="3174142" y="3889751"/>
              <a:ext cx="0" cy="449709"/>
            </a:xfrm>
            <a:prstGeom prst="straightConnector1">
              <a:avLst/>
            </a:prstGeom>
            <a:noFill/>
            <a:ln cap="flat" cmpd="sng" w="50800">
              <a:solidFill>
                <a:srgbClr val="FF8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7"/>
            <p:cNvCxnSpPr/>
            <p:nvPr/>
          </p:nvCxnSpPr>
          <p:spPr>
            <a:xfrm rot="10800000">
              <a:off x="3174142" y="4339460"/>
              <a:ext cx="2997495" cy="0"/>
            </a:xfrm>
            <a:prstGeom prst="straightConnector1">
              <a:avLst/>
            </a:prstGeom>
            <a:noFill/>
            <a:ln cap="flat" cmpd="sng" w="50800">
              <a:solidFill>
                <a:srgbClr val="FF8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8" name="Google Shape;228;p7"/>
            <p:cNvSpPr txBox="1"/>
            <p:nvPr/>
          </p:nvSpPr>
          <p:spPr>
            <a:xfrm>
              <a:off x="5131073" y="3164807"/>
              <a:ext cx="633507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TCP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Port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65432</a:t>
              </a:r>
              <a:endParaRPr/>
            </a:p>
          </p:txBody>
        </p:sp>
      </p:grpSp>
      <p:grpSp>
        <p:nvGrpSpPr>
          <p:cNvPr id="229" name="Google Shape;229;p7"/>
          <p:cNvGrpSpPr/>
          <p:nvPr/>
        </p:nvGrpSpPr>
        <p:grpSpPr>
          <a:xfrm>
            <a:off x="5062836" y="3493842"/>
            <a:ext cx="3828563" cy="3062295"/>
            <a:chOff x="5062836" y="3493842"/>
            <a:chExt cx="3828563" cy="3062295"/>
          </a:xfrm>
        </p:grpSpPr>
        <p:pic>
          <p:nvPicPr>
            <p:cNvPr id="230" name="Google Shape;23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62836" y="4497148"/>
              <a:ext cx="3828563" cy="20589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7"/>
            <p:cNvSpPr txBox="1"/>
            <p:nvPr/>
          </p:nvSpPr>
          <p:spPr>
            <a:xfrm>
              <a:off x="7449188" y="3493842"/>
              <a:ext cx="10589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 WSL</a:t>
              </a:r>
              <a:endParaRPr b="1" sz="18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7757501" y="3919050"/>
              <a:ext cx="383005" cy="365387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42500">
              <a:solidFill>
                <a:srgbClr val="6535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 txBox="1"/>
          <p:nvPr>
            <p:ph type="title"/>
          </p:nvPr>
        </p:nvSpPr>
        <p:spPr>
          <a:xfrm>
            <a:off x="220509" y="301704"/>
            <a:ext cx="8183880" cy="661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3200"/>
              <a:buFont typeface="Times New Roman"/>
              <a:buNone/>
            </a:pPr>
            <a:r>
              <a:rPr lang="en-US" sz="3200"/>
              <a:t>Connection Establishment: Explained</a:t>
            </a:r>
            <a:endParaRPr/>
          </a:p>
        </p:txBody>
      </p:sp>
      <p:pic>
        <p:nvPicPr>
          <p:cNvPr id="238" name="Google Shape;238;p8"/>
          <p:cNvPicPr preferRelativeResize="0"/>
          <p:nvPr/>
        </p:nvPicPr>
        <p:blipFill rotWithShape="1">
          <a:blip r:embed="rId3">
            <a:alphaModFix/>
          </a:blip>
          <a:srcRect b="0" l="0" r="0" t="1959"/>
          <a:stretch/>
        </p:blipFill>
        <p:spPr>
          <a:xfrm>
            <a:off x="234229" y="1116475"/>
            <a:ext cx="5692023" cy="200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2652359" y="1978660"/>
            <a:ext cx="243449" cy="946284"/>
          </a:xfrm>
          <a:prstGeom prst="rect">
            <a:avLst/>
          </a:prstGeom>
          <a:noFill/>
          <a:ln cap="flat" cmpd="sng" w="42500">
            <a:solidFill>
              <a:srgbClr val="AF5C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2897528" y="1978660"/>
            <a:ext cx="243449" cy="946284"/>
          </a:xfrm>
          <a:prstGeom prst="rect">
            <a:avLst/>
          </a:prstGeom>
          <a:noFill/>
          <a:ln cap="flat" cmpd="sng" w="42500">
            <a:solidFill>
              <a:srgbClr val="AF5C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316624" y="5572248"/>
            <a:ext cx="294612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Synchronization</a:t>
            </a:r>
            <a:endParaRPr/>
          </a:p>
        </p:txBody>
      </p:sp>
      <p:sp>
        <p:nvSpPr>
          <p:cNvPr id="242" name="Google Shape;242;p8"/>
          <p:cNvSpPr txBox="1"/>
          <p:nvPr/>
        </p:nvSpPr>
        <p:spPr>
          <a:xfrm>
            <a:off x="3262752" y="5572248"/>
            <a:ext cx="37346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segment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TCP connection.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215002" y="3271047"/>
            <a:ext cx="5426691" cy="20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/>
          <a:p>
            <a:pPr indent="-265176" lvl="0" marL="265176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⚫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connection typically goes through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phases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/>
          </a:p>
          <a:p>
            <a:pPr indent="-457200" lvl="0" marL="457200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Setup, </a:t>
            </a:r>
            <a:endParaRPr/>
          </a:p>
          <a:p>
            <a:pPr indent="-457200" lvl="0" marL="457200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 (called </a:t>
            </a:r>
            <a:r>
              <a:rPr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established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and</a:t>
            </a:r>
            <a:endParaRPr/>
          </a:p>
          <a:p>
            <a:pPr indent="-457200" lvl="0" marL="457200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Teardown (closing).</a:t>
            </a:r>
            <a:endParaRPr/>
          </a:p>
        </p:txBody>
      </p:sp>
      <p:grpSp>
        <p:nvGrpSpPr>
          <p:cNvPr id="244" name="Google Shape;244;p8"/>
          <p:cNvGrpSpPr/>
          <p:nvPr/>
        </p:nvGrpSpPr>
        <p:grpSpPr>
          <a:xfrm>
            <a:off x="5926252" y="1190287"/>
            <a:ext cx="3096344" cy="2694569"/>
            <a:chOff x="5926252" y="1190287"/>
            <a:chExt cx="3096344" cy="2694569"/>
          </a:xfrm>
        </p:grpSpPr>
        <p:pic>
          <p:nvPicPr>
            <p:cNvPr id="245" name="Google Shape;24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26252" y="1190287"/>
              <a:ext cx="3096344" cy="26945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8"/>
            <p:cNvSpPr/>
            <p:nvPr/>
          </p:nvSpPr>
          <p:spPr>
            <a:xfrm>
              <a:off x="5926252" y="1245648"/>
              <a:ext cx="1094057" cy="383152"/>
            </a:xfrm>
            <a:prstGeom prst="rect">
              <a:avLst/>
            </a:prstGeom>
            <a:noFill/>
            <a:ln cap="flat" cmpd="sng" w="42500">
              <a:solidFill>
                <a:srgbClr val="AF5C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7725837" y="1245648"/>
              <a:ext cx="1195371" cy="383152"/>
            </a:xfrm>
            <a:prstGeom prst="rect">
              <a:avLst/>
            </a:prstGeom>
            <a:noFill/>
            <a:ln cap="flat" cmpd="sng" w="42500">
              <a:solidFill>
                <a:srgbClr val="AF5C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 txBox="1"/>
          <p:nvPr>
            <p:ph type="title"/>
          </p:nvPr>
        </p:nvSpPr>
        <p:spPr>
          <a:xfrm>
            <a:off x="611560" y="332656"/>
            <a:ext cx="8183880" cy="661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ct val="100000"/>
              <a:buFont typeface="Times New Roman"/>
              <a:buNone/>
            </a:pPr>
            <a:r>
              <a:rPr lang="en-US"/>
              <a:t>IP address: WSL</a:t>
            </a:r>
            <a:br>
              <a:rPr lang="en-US"/>
            </a:br>
            <a:r>
              <a:rPr lang="en-US" sz="2700"/>
              <a:t>(file name: </a:t>
            </a:r>
            <a:r>
              <a:rPr b="0" lang="en-US" sz="2700">
                <a:solidFill>
                  <a:srgbClr val="0066FF"/>
                </a:solidFill>
              </a:rPr>
              <a:t>Lab1_WSL.py </a:t>
            </a:r>
            <a:r>
              <a:rPr lang="en-US" sz="2700"/>
              <a:t>)</a:t>
            </a:r>
            <a:endParaRPr/>
          </a:p>
        </p:txBody>
      </p:sp>
      <p:sp>
        <p:nvSpPr>
          <p:cNvPr id="253" name="Google Shape;253;p9"/>
          <p:cNvSpPr txBox="1"/>
          <p:nvPr>
            <p:ph idx="1" type="body"/>
          </p:nvPr>
        </p:nvSpPr>
        <p:spPr>
          <a:xfrm>
            <a:off x="329786" y="1124744"/>
            <a:ext cx="8346670" cy="79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 fontScale="92500"/>
          </a:bodyPr>
          <a:lstStyle/>
          <a:p>
            <a:pPr indent="-265176" lvl="0" marL="265176" rtl="0" algn="l"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US" sz="2400"/>
              <a:t>IP address of the Server running on WSL</a:t>
            </a:r>
            <a:r>
              <a:rPr b="1" lang="en-US" sz="2400">
                <a:solidFill>
                  <a:srgbClr val="0000CC"/>
                </a:solidFill>
              </a:rPr>
              <a:t>: HOST =  </a:t>
            </a:r>
            <a:r>
              <a:rPr b="1" lang="en-US" sz="2400">
                <a:solidFill>
                  <a:srgbClr val="0066FF"/>
                </a:solidFill>
              </a:rPr>
              <a:t>172.24.215.49</a:t>
            </a:r>
            <a:r>
              <a:rPr lang="en-US" sz="2400">
                <a:solidFill>
                  <a:srgbClr val="0066FF"/>
                </a:solidFill>
              </a:rPr>
              <a:t> </a:t>
            </a:r>
            <a:endParaRPr sz="2400">
              <a:solidFill>
                <a:srgbClr val="0066FF"/>
              </a:solidFill>
            </a:endParaRPr>
          </a:p>
        </p:txBody>
      </p:sp>
      <p:pic>
        <p:nvPicPr>
          <p:cNvPr id="254" name="Google Shape;2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106" y="1681371"/>
            <a:ext cx="5112065" cy="25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9"/>
          <p:cNvSpPr txBox="1"/>
          <p:nvPr/>
        </p:nvSpPr>
        <p:spPr>
          <a:xfrm>
            <a:off x="5635508" y="1741928"/>
            <a:ext cx="24032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inet 172.24.215.49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netmask 255.255.240.0</a:t>
            </a:r>
            <a:endParaRPr/>
          </a:p>
        </p:txBody>
      </p:sp>
      <p:grpSp>
        <p:nvGrpSpPr>
          <p:cNvPr id="256" name="Google Shape;256;p9"/>
          <p:cNvGrpSpPr/>
          <p:nvPr/>
        </p:nvGrpSpPr>
        <p:grpSpPr>
          <a:xfrm>
            <a:off x="2360543" y="3184005"/>
            <a:ext cx="6434897" cy="3152835"/>
            <a:chOff x="2360543" y="3184005"/>
            <a:chExt cx="6434897" cy="3152835"/>
          </a:xfrm>
        </p:grpSpPr>
        <p:pic>
          <p:nvPicPr>
            <p:cNvPr id="257" name="Google Shape;25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60543" y="4437112"/>
              <a:ext cx="6192688" cy="1899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9"/>
            <p:cNvSpPr txBox="1"/>
            <p:nvPr/>
          </p:nvSpPr>
          <p:spPr>
            <a:xfrm>
              <a:off x="5475236" y="3184005"/>
              <a:ext cx="332020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Change the HOST value (IP addr)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 shown below </a:t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6837119" y="3874039"/>
              <a:ext cx="360040" cy="413683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42500">
              <a:solidFill>
                <a:srgbClr val="6535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60" name="Google Shape;260;p9"/>
          <p:cNvSpPr txBox="1"/>
          <p:nvPr/>
        </p:nvSpPr>
        <p:spPr>
          <a:xfrm>
            <a:off x="5460946" y="2388259"/>
            <a:ext cx="347242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</a:t>
            </a: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Choose the IP addresses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what you see in your machine.</a:t>
            </a:r>
            <a:endParaRPr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 txBox="1"/>
          <p:nvPr>
            <p:ph type="title"/>
          </p:nvPr>
        </p:nvSpPr>
        <p:spPr>
          <a:xfrm>
            <a:off x="611560" y="332656"/>
            <a:ext cx="8183880" cy="661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ct val="100000"/>
              <a:buFont typeface="Times New Roman"/>
              <a:buNone/>
            </a:pPr>
            <a:r>
              <a:rPr lang="en-US" sz="3100"/>
              <a:t>Exp 3a : Server (WSL) 🡨🡪 Client (Windows)</a:t>
            </a:r>
            <a:br>
              <a:rPr lang="en-US" sz="2700"/>
            </a:br>
            <a:r>
              <a:rPr lang="en-US" sz="2200"/>
              <a:t>(file names: </a:t>
            </a:r>
            <a:r>
              <a:rPr b="0" lang="en-US" sz="2200">
                <a:solidFill>
                  <a:srgbClr val="0066FF"/>
                </a:solidFill>
              </a:rPr>
              <a:t>Lab3a_server_WSL.py &amp; Lab3a_client_Win.py  </a:t>
            </a:r>
            <a:r>
              <a:rPr lang="en-US" sz="2200"/>
              <a:t>)</a:t>
            </a:r>
            <a:endParaRPr/>
          </a:p>
        </p:txBody>
      </p:sp>
      <p:sp>
        <p:nvSpPr>
          <p:cNvPr id="266" name="Google Shape;266;p10"/>
          <p:cNvSpPr txBox="1"/>
          <p:nvPr>
            <p:ph idx="1" type="body"/>
          </p:nvPr>
        </p:nvSpPr>
        <p:spPr>
          <a:xfrm>
            <a:off x="329775" y="1124749"/>
            <a:ext cx="83466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 lnSpcReduction="10000"/>
          </a:bodyPr>
          <a:lstStyle/>
          <a:p>
            <a:pPr indent="0" lvl="0" marL="26517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Run the server code of Exp0 on WSL and Client code of Exp0 on Windows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26517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python3 </a:t>
            </a:r>
            <a:r>
              <a:rPr b="1" lang="en-US" sz="2200">
                <a:solidFill>
                  <a:srgbClr val="FF8C3C"/>
                </a:solidFill>
              </a:rPr>
              <a:t> </a:t>
            </a:r>
            <a:r>
              <a:rPr lang="en-US" sz="2200">
                <a:solidFill>
                  <a:srgbClr val="0066FF"/>
                </a:solidFill>
              </a:rPr>
              <a:t>Lab3a_server_WSL.py  </a:t>
            </a:r>
            <a:endParaRPr sz="2200">
              <a:solidFill>
                <a:srgbClr val="0066FF"/>
              </a:solidFill>
            </a:endParaRPr>
          </a:p>
          <a:p>
            <a:pPr indent="0" lvl="0" marL="265176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200">
                <a:solidFill>
                  <a:srgbClr val="0066FF"/>
                </a:solidFill>
              </a:rPr>
            </a:br>
            <a:endParaRPr sz="2200">
              <a:solidFill>
                <a:srgbClr val="0066FF"/>
              </a:solidFill>
            </a:endParaRPr>
          </a:p>
          <a:p>
            <a:pPr indent="0" lvl="0" marL="26517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66FF"/>
                </a:solidFill>
              </a:rPr>
              <a:t>py Lab3a_client_Win.py </a:t>
            </a:r>
            <a:endParaRPr sz="2200">
              <a:solidFill>
                <a:srgbClr val="0066FF"/>
              </a:solidFill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806404" y="1869337"/>
            <a:ext cx="1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on WSL</a:t>
            </a:r>
            <a:endParaRPr b="1" sz="18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757103" y="2751440"/>
            <a:ext cx="20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on Windows</a:t>
            </a:r>
            <a:endParaRPr b="1" sz="1800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 txBox="1"/>
          <p:nvPr>
            <p:ph type="title"/>
          </p:nvPr>
        </p:nvSpPr>
        <p:spPr>
          <a:xfrm>
            <a:off x="323528" y="116632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3200"/>
              <a:buFont typeface="Times New Roman"/>
              <a:buNone/>
            </a:pPr>
            <a:r>
              <a:rPr lang="en-US" sz="3200"/>
              <a:t>Analyze the TCP Segments: Wireshark</a:t>
            </a:r>
            <a:br>
              <a:rPr lang="en-US" sz="3200"/>
            </a:br>
            <a:r>
              <a:rPr lang="en-US" sz="2400">
                <a:solidFill>
                  <a:srgbClr val="0000CC"/>
                </a:solidFill>
              </a:rPr>
              <a:t>(exchanged between the Server and Client)</a:t>
            </a:r>
            <a:endParaRPr sz="3200">
              <a:solidFill>
                <a:srgbClr val="0000CC"/>
              </a:solidFill>
            </a:endParaRPr>
          </a:p>
        </p:txBody>
      </p:sp>
      <p:sp>
        <p:nvSpPr>
          <p:cNvPr id="274" name="Google Shape;274;p11"/>
          <p:cNvSpPr txBox="1"/>
          <p:nvPr>
            <p:ph idx="1" type="body"/>
          </p:nvPr>
        </p:nvSpPr>
        <p:spPr>
          <a:xfrm>
            <a:off x="288104" y="1138504"/>
            <a:ext cx="6012088" cy="2722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/>
          <a:p>
            <a:pPr indent="-265176" lvl="0" marL="265176" rtl="0" algn="l">
              <a:spcBef>
                <a:spcPts val="0"/>
              </a:spcBef>
              <a:spcAft>
                <a:spcPts val="0"/>
              </a:spcAft>
              <a:buSzPts val="1760"/>
              <a:buChar char="⚫"/>
            </a:pPr>
            <a:r>
              <a:rPr lang="en-US" sz="2200"/>
              <a:t>Run the </a:t>
            </a:r>
            <a:r>
              <a:rPr b="1" lang="en-US" sz="2200"/>
              <a:t>Wireshark in Administrator mode </a:t>
            </a:r>
            <a:r>
              <a:rPr lang="en-US" sz="2200"/>
              <a:t>and capture the packets on the virtual Interface between the WSL and Windows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760"/>
              <a:buChar char="⚫"/>
            </a:pPr>
            <a:r>
              <a:rPr lang="en-US" sz="2200"/>
              <a:t>Choose: Capture </a:t>
            </a:r>
            <a:r>
              <a:rPr b="1" lang="en-US" sz="2200">
                <a:solidFill>
                  <a:srgbClr val="0000CC"/>
                </a:solidFill>
              </a:rPr>
              <a:t>vEthernet Interface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760"/>
              <a:buChar char="⚫"/>
            </a:pPr>
            <a:r>
              <a:rPr lang="en-US" sz="2200"/>
              <a:t>Apply a </a:t>
            </a:r>
            <a:r>
              <a:rPr b="1" lang="en-US" sz="2200"/>
              <a:t>display filter</a:t>
            </a:r>
            <a:r>
              <a:rPr lang="en-US" sz="2200"/>
              <a:t>: Type the filter cmd</a:t>
            </a:r>
            <a:endParaRPr sz="2200"/>
          </a:p>
          <a:p>
            <a:pPr indent="-201168" lvl="1" marL="548640" rtl="0" algn="l">
              <a:spcBef>
                <a:spcPts val="250"/>
              </a:spcBef>
              <a:spcAft>
                <a:spcPts val="0"/>
              </a:spcAft>
              <a:buSzPts val="2000"/>
              <a:buChar char="◦"/>
            </a:pPr>
            <a:r>
              <a:rPr b="1" lang="en-US" sz="2000">
                <a:solidFill>
                  <a:srgbClr val="0000CC"/>
                </a:solidFill>
              </a:rPr>
              <a:t>tcp.port == 65432</a:t>
            </a:r>
            <a:endParaRPr/>
          </a:p>
          <a:p>
            <a:pPr indent="-201168" lvl="1" marL="548640" rtl="0" algn="l">
              <a:spcBef>
                <a:spcPts val="25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Click on the right arrow at the right side</a:t>
            </a:r>
            <a:endParaRPr/>
          </a:p>
        </p:txBody>
      </p:sp>
      <p:pic>
        <p:nvPicPr>
          <p:cNvPr id="275" name="Google Shape;27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2080" y="1160240"/>
            <a:ext cx="2645073" cy="1000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9147" y="2271164"/>
            <a:ext cx="2883390" cy="1272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" name="Google Shape;277;p11"/>
          <p:cNvGrpSpPr/>
          <p:nvPr/>
        </p:nvGrpSpPr>
        <p:grpSpPr>
          <a:xfrm>
            <a:off x="198091" y="3672653"/>
            <a:ext cx="8747818" cy="1397268"/>
            <a:chOff x="198091" y="3790527"/>
            <a:chExt cx="8747818" cy="1397268"/>
          </a:xfrm>
        </p:grpSpPr>
        <p:pic>
          <p:nvPicPr>
            <p:cNvPr id="278" name="Google Shape;278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8091" y="3835056"/>
              <a:ext cx="3096057" cy="1352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29784" y="3798368"/>
              <a:ext cx="1316125" cy="12643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03471" y="3790527"/>
              <a:ext cx="2916989" cy="12722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11"/>
            <p:cNvSpPr/>
            <p:nvPr/>
          </p:nvSpPr>
          <p:spPr>
            <a:xfrm>
              <a:off x="3492000" y="4281042"/>
              <a:ext cx="378332" cy="27427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42500">
              <a:solidFill>
                <a:srgbClr val="6535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7063453" y="4156279"/>
              <a:ext cx="378332" cy="27427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42500">
              <a:solidFill>
                <a:srgbClr val="6535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83" name="Google Shape;283;p11"/>
          <p:cNvSpPr txBox="1"/>
          <p:nvPr/>
        </p:nvSpPr>
        <p:spPr>
          <a:xfrm>
            <a:off x="168880" y="5089775"/>
            <a:ext cx="8867615" cy="1651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/>
          <a:p>
            <a:pPr indent="-265176" lvl="0" marL="265176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⚫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the Server code on WSL first and then the Client code on the Windows side.</a:t>
            </a:r>
            <a:endParaRPr/>
          </a:p>
          <a:p>
            <a:pPr indent="-265176" lvl="0" marL="265176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⚫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observe TCP segments exchanged between the Server and the Client on Wireshark.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"/>
          <p:cNvSpPr txBox="1"/>
          <p:nvPr>
            <p:ph type="title"/>
          </p:nvPr>
        </p:nvSpPr>
        <p:spPr>
          <a:xfrm>
            <a:off x="611560" y="332656"/>
            <a:ext cx="8183880" cy="733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3600"/>
              <a:buFont typeface="Times New Roman"/>
              <a:buNone/>
            </a:pPr>
            <a:r>
              <a:rPr lang="en-US"/>
              <a:t>Analyze Each TCP Segment Exchanged</a:t>
            </a:r>
            <a:endParaRPr/>
          </a:p>
        </p:txBody>
      </p:sp>
      <p:pic>
        <p:nvPicPr>
          <p:cNvPr id="289" name="Google Shape;2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764" y="1246982"/>
            <a:ext cx="8820472" cy="216259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2"/>
          <p:cNvSpPr txBox="1"/>
          <p:nvPr>
            <p:ph idx="1" type="body"/>
          </p:nvPr>
        </p:nvSpPr>
        <p:spPr>
          <a:xfrm>
            <a:off x="161764" y="3650556"/>
            <a:ext cx="8820472" cy="2503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/>
          <a:p>
            <a:pPr indent="-265176" lvl="0" marL="265176" rtl="0" algn="l">
              <a:spcBef>
                <a:spcPts val="0"/>
              </a:spcBef>
              <a:spcAft>
                <a:spcPts val="0"/>
              </a:spcAft>
              <a:buSzPts val="1760"/>
              <a:buChar char="⚫"/>
            </a:pPr>
            <a:r>
              <a:rPr lang="en-US" sz="2200"/>
              <a:t>The first three segments seen above are related to connection establishment between the Server waiting on the port # 65432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760"/>
              <a:buChar char="⚫"/>
            </a:pPr>
            <a:r>
              <a:rPr lang="en-US" sz="2200"/>
              <a:t>The next three segments are exchanging data between the Server and the Client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760"/>
              <a:buChar char="⚫"/>
            </a:pPr>
            <a:r>
              <a:rPr lang="en-US" sz="2200"/>
              <a:t>The last three segments are closing the connection between them, with the Client initiating the closure of connection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 txBox="1"/>
          <p:nvPr>
            <p:ph type="title"/>
          </p:nvPr>
        </p:nvSpPr>
        <p:spPr>
          <a:xfrm>
            <a:off x="467544" y="3573016"/>
            <a:ext cx="8471912" cy="1872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C00000"/>
                </a:solidFill>
              </a:rPr>
              <a:t>Experimentes to be Done in the Lab</a:t>
            </a:r>
            <a:endParaRPr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/>
          <p:nvPr>
            <p:ph type="title"/>
          </p:nvPr>
        </p:nvSpPr>
        <p:spPr>
          <a:xfrm>
            <a:off x="-11485" y="250092"/>
            <a:ext cx="8969761" cy="733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ct val="100000"/>
              <a:buFont typeface="Times New Roman"/>
              <a:buNone/>
            </a:pPr>
            <a:r>
              <a:rPr lang="en-US" sz="3200"/>
              <a:t>Exp 3b: Server (Win) and Client (WSL)[Interchange Client &amp; Server]</a:t>
            </a:r>
            <a:endParaRPr sz="3200">
              <a:solidFill>
                <a:srgbClr val="FF0000"/>
              </a:solidFill>
            </a:endParaRPr>
          </a:p>
        </p:txBody>
      </p:sp>
      <p:sp>
        <p:nvSpPr>
          <p:cNvPr id="301" name="Google Shape;301;p14"/>
          <p:cNvSpPr txBox="1"/>
          <p:nvPr/>
        </p:nvSpPr>
        <p:spPr>
          <a:xfrm>
            <a:off x="251520" y="1196752"/>
            <a:ext cx="8432487" cy="3888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/>
          <a:p>
            <a:pPr indent="-265176" lvl="0" marL="265176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⚫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the given Exp0 files of both Server and the Client, as Exp1 files and change the Exp1 Client file according to your IP address observed on Windows</a:t>
            </a:r>
            <a:endParaRPr/>
          </a:p>
          <a:p>
            <a:pPr indent="-201168" lvl="1" marL="548640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◦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Exchanging files between the WSL and Windows seamless, use the method shown on Slide #5.</a:t>
            </a:r>
            <a:endParaRPr/>
          </a:p>
          <a:p>
            <a:pPr indent="-265176" lvl="0" marL="265176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⚫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Now, run the Exp1 Server on Windows first and run the Exp1 Client code from the WSL side and observe the segments exchanged between the WSL and  Windows using the Wireshark.</a:t>
            </a:r>
            <a:endParaRPr/>
          </a:p>
          <a:p>
            <a:pPr indent="-265176" lvl="0" marL="265176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⚫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Observe the exchange of segments between the server running Windows and the client running on WSL on Wireshark, by setting up the display filter as “</a:t>
            </a:r>
            <a:r>
              <a:rPr b="1" lang="en-US" sz="2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tcp.port == 65432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"/>
          <p:cNvSpPr txBox="1"/>
          <p:nvPr>
            <p:ph type="title"/>
          </p:nvPr>
        </p:nvSpPr>
        <p:spPr>
          <a:xfrm>
            <a:off x="467544" y="404664"/>
            <a:ext cx="7704856" cy="57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8C3C"/>
              </a:buClr>
              <a:buSzPts val="3200"/>
              <a:buFont typeface="Times New Roman"/>
              <a:buNone/>
            </a:pPr>
            <a:r>
              <a:rPr lang="en-US" sz="3200"/>
              <a:t>Lab 3: Summary</a:t>
            </a:r>
            <a:endParaRPr sz="3200"/>
          </a:p>
        </p:txBody>
      </p:sp>
      <p:sp>
        <p:nvSpPr>
          <p:cNvPr id="307" name="Google Shape;307;p15"/>
          <p:cNvSpPr txBox="1"/>
          <p:nvPr>
            <p:ph idx="1" type="body"/>
          </p:nvPr>
        </p:nvSpPr>
        <p:spPr>
          <a:xfrm>
            <a:off x="1746560" y="1196752"/>
            <a:ext cx="6574684" cy="260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/>
          <a:p>
            <a:pPr indent="-265176" lvl="0" marL="265176" rtl="0" algn="l"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WSL Explained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Server and Client Interactions</a:t>
            </a:r>
            <a:endParaRPr/>
          </a:p>
          <a:p>
            <a:pPr indent="-201168" lvl="1" marL="548640" rtl="0" algn="l">
              <a:spcBef>
                <a:spcPts val="250"/>
              </a:spcBef>
              <a:spcAft>
                <a:spcPts val="0"/>
              </a:spcAft>
              <a:buSzPts val="2000"/>
              <a:buChar char="◦"/>
            </a:pPr>
            <a:r>
              <a:rPr lang="en-US" sz="2000"/>
              <a:t>Using TCP Connection between WSL and Windows</a:t>
            </a:r>
            <a:endParaRPr/>
          </a:p>
          <a:p>
            <a:pPr indent="-201168" lvl="1" marL="548640" rtl="0" algn="l">
              <a:spcBef>
                <a:spcPts val="250"/>
              </a:spcBef>
              <a:spcAft>
                <a:spcPts val="0"/>
              </a:spcAft>
              <a:buSzPts val="2400"/>
              <a:buChar char="◦"/>
            </a:pPr>
            <a:r>
              <a:rPr lang="en-US" sz="2400"/>
              <a:t>Connection Establishment Explained</a:t>
            </a:r>
            <a:endParaRPr/>
          </a:p>
          <a:p>
            <a:pPr indent="-265176" lvl="0" marL="265176" rtl="0" algn="l">
              <a:spcBef>
                <a:spcPts val="25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Analyze the TCP Segments: Wireshark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spect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2012-06-28T09:03:48Z</dcterms:created>
  <dc:creator>user</dc:creator>
</cp:coreProperties>
</file>